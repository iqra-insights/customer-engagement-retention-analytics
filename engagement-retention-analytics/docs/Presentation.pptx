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7720"/>
            <a:ext cx="12188952" cy="2240280"/>
          </a:xfrm>
          <a:prstGeom prst="rect">
            <a:avLst/>
          </a:prstGeom>
          <a:solidFill>
            <a:srgbClr val="1820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Engagement &amp; Product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Utilization Analytics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Retention Strategy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Behavioral &amp; Relationship-Strength Approach to Customer Retention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Iqra   |   Unified Mentor — Data Analyst &amp; Data Science Internship   |   European Bank Dataset (10,000 records)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37160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37160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false assumption: balance = loyalty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2140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12140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Dataset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12140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measure, and on what data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871216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87121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871216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profiles &amp; the Relationship Strength Index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21024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2102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62102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621024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statistically validated findings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70832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37083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437083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Rigor &amp; Predictive Model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37083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tests, correlations, and an honest model result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1206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645920" y="512064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&amp; Recommendations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512064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track, and what to do next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assume high balance = loyal customer. Our data says otherwise.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888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Engagement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stop using products actively, even with healthy balances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2930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293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Product Adoption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94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Single-product customers show no depth of relationship with the bank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0116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6978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697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Relationship Depth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794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tenure, card, or activity signal tying the customer to the bank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behaviors — not demographics — determine long-term retention.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6032" cy="25603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8470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relationship between engagement and churn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256032" cy="25603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62432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retention impact of product count and product mix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256032" cy="25603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4015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disengaged yet high-value customers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Objectives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196596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12280" y="184708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engagement-driven retention strategies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7432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262432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product bundling decisions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352044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12280" y="340156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silent churn among premium customers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lack quantitative insight into which behaviors drive retention, whether product depth reduces churn, and whether high balances alone ensure loyalty — leading to generic, misaligned retention strategies.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29000" y="128016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057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Record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3716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057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Geographies (FR / DE / ES)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89720" y="128016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9720" y="13716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057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or Duplicates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 Used in This Analysis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48386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NumOfProducts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2160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depth (1-4 products held)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429000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48386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IsActiveMember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72160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/ activity indicator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21538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/ EstimatedSalary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45312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commitment tiering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160520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421538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/ HasCrCard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45312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Relationship-strength inputs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94690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18464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France, Germany, Spain segmentation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892040"/>
            <a:ext cx="5440680" cy="594360"/>
          </a:xfrm>
          <a:prstGeom prst="roundRect">
            <a:avLst>
              <a:gd name="adj" fmla="val 9231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494690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18464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indicator — target variable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The Relationship Strength Index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0-10 score combining four behavioral signals into one retention-strength metric.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218688" y="23774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32409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057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×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606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(capped at 4)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824728" y="23774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035040" y="192024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2057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×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606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Credit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23774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641080" y="192024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32409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41080" y="2057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×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606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 years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79476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7947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≥ 6   =   Sticky Customer          Score &lt; 6   =   At-Risk Customer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set by reasoned judgment, not data-fit — Slide 11 shows what a data-fit model finds instead.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steps: data validation  →  engagement classification (4 profiles)  →  product utilization analysis  →  balance-vs-activity cross-analysis  →  RSI scoring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1: Engagement Beats Wealth</a:t>
            </a:r>
            <a:endParaRPr lang="en-US" sz="2700" dirty="0"/>
          </a:p>
        </p:txBody>
      </p:sp>
      <p:pic>
        <p:nvPicPr>
          <p:cNvPr id="3" name="Image 0" descr="/home/claude/engagement-retention-analytics/outputs/charts/01_engagement_profile_ch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594360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20840" y="109728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720840" y="11887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720840" y="1874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Active Engaged customers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720840" y="27432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E6394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720840" y="28346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3520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Inactive High-Balance customers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43434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3x churn gap — statistically confirmed (χ² = 325.46, p &lt; 0.001). Balance does not buy loyalty; activity does.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2: The 2-Product Sweet Spot</a:t>
            </a:r>
            <a:endParaRPr lang="en-US" sz="2700" dirty="0"/>
          </a:p>
        </p:txBody>
      </p:sp>
      <p:pic>
        <p:nvPicPr>
          <p:cNvPr id="3" name="Image 0" descr="/home/claude/engagement-retention-analytics/outputs/charts/02_product_count_ch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594360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20840" y="109728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F2F4F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903720" y="1188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53.9%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118872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churn reduction — multi-product vs. single-product customers (the Product Depth Index)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720840" y="251460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FDEC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94944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Counter-intuitive Signal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306324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3-4 products churn at 82.7% and 100% — far higher than the 2-product group.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loyalty from product depth; it signals aggressive cross-selling without genuine engagement, and customers disengaging shortly after acquiring extra products.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3: Balance Alone Doesn't Protect Against Churn</a:t>
            </a:r>
            <a:endParaRPr lang="en-US" sz="2400" dirty="0"/>
          </a:p>
        </p:txBody>
      </p:sp>
      <p:pic>
        <p:nvPicPr>
          <p:cNvPr id="3" name="Image 0" descr="/home/claude/engagement-retention-analytics/outputs/charts/03_balance_activit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12064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10972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4F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92240" y="12344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1,247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1234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premium customers — Premium-balance customers who are inactive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286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for this segment: 30.47%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32461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37960" y="3429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balance tier — Low, Medium, High, Premium — inactive customers churn at roughly 2x the rate of active customers in the same tier.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status, not wealth, is the stronger predictor of retention.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4: Retention Strength Predicts Loyalty</a:t>
            </a:r>
            <a:endParaRPr lang="en-US" sz="2500" dirty="0"/>
          </a:p>
        </p:txBody>
      </p:sp>
      <p:pic>
        <p:nvPicPr>
          <p:cNvPr id="3" name="Image 0" descr="/home/claude/engagement-retention-analytics/outputs/charts/04_rsi_churn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5760720" cy="4480560"/>
          </a:xfrm>
          <a:prstGeom prst="rect">
            <a:avLst/>
          </a:prstGeom>
        </p:spPr>
      </p:pic>
      <p:pic>
        <p:nvPicPr>
          <p:cNvPr id="4" name="Image 1" descr="/home/claude/engagement-retention-analytics/outputs/charts/05_sticky_vs_at_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120640" cy="41148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customers (RSI ≥ 6) churn at 13.3% — nearly half the 22.5% churn rate of At-Risk customers (χ² = 93.33, p &lt; 0.001), validating RSI as a usable targeting metric.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Rigor: These Aren't Just Percentages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relationship above was tested with a chi-square test of independence — all significant at p &lt; 0.001.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600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600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577840" cy="4572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Profile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057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325.46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057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5577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Tier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342.98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514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577840" cy="4572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971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301.26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5577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429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vs. At-Risk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429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93.33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429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5577840" cy="4572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3886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Tier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3886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140.10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600200"/>
            <a:ext cx="5166360" cy="3200400"/>
          </a:xfrm>
          <a:prstGeom prst="roundRect">
            <a:avLst>
              <a:gd name="adj" fmla="val 2286"/>
            </a:avLst>
          </a:prstGeom>
          <a:solidFill>
            <a:srgbClr val="F2F4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208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Correlates of Churn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2240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195560" y="2240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+0.285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2788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Strength Index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195560" y="2788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−0.140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3337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195560" y="3337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+0.119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Products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195560" y="3886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−0.048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" y="470916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 Don't Overlap: Active [13.3%, 15.2%]  vs.  Inactive [25.6%, 28.1%] — the engagement gap is real, not sampling noise.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Also Built a Predictive Model — Honestly Reported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trained on 7,500 customers, tested on 2,500 it never saw.</a:t>
            </a:r>
            <a:endParaRPr lang="en-US" sz="1350" dirty="0"/>
          </a:p>
        </p:txBody>
      </p:sp>
      <p:pic>
        <p:nvPicPr>
          <p:cNvPr id="4" name="Image 0" descr="/home/claude/engagement-retention-analytics/outputs/charts/07_logistic_regression_odds_rat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5778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4173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DEC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92240" y="150876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80.9% vs. 79.6%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21488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vs. simply guessing “no one churns” — barely better. Recall on actual churners: only 19%.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34290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37960" y="3566160"/>
            <a:ext cx="4892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useful negative result, not a failure: a single linear score can't separate customers as cleanly as our engagement-profile rules do (9.7% vs. 30.5% churn). Rule-based segmentation wins for this use case.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2A3578"/>
          </a:solidFill>
          <a:ln w="12700">
            <a:solidFill>
              <a:srgbClr val="2A35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1.88x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Retention Ratio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2A3578"/>
          </a:solidFill>
          <a:ln w="12700">
            <a:solidFill>
              <a:srgbClr val="2A35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600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53.9%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Depth Index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2A3578"/>
          </a:solidFill>
          <a:ln w="12700">
            <a:solidFill>
              <a:srgbClr val="2A35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600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49.9%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High-Balance Disengagement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2A3578"/>
          </a:solidFill>
          <a:ln w="12700">
            <a:solidFill>
              <a:srgbClr val="2A35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86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800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Stickiness Score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657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2A3578"/>
          </a:solidFill>
          <a:ln w="12700">
            <a:solidFill>
              <a:srgbClr val="2A357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3886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4.58/10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800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Relationship Strength Index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3657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2A3578"/>
          </a:solidFill>
          <a:ln w="12700">
            <a:solidFill>
              <a:srgbClr val="2A35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3886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800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554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by Engagement, Not Balance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inactive customers for retention outreach regardless of balance tier.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2801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463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1554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 Cross-Sell for 3rd/4th Products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231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any additional product offer with a 60-day relationship check-in.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38862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977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At-Risk Premium Program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engage the 1,247 high-value inactive customers first.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703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38862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3977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RSI Rules, Not a Predictive Score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8463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RSI monthly; rely on segmentation, since the linear model underperforms it.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is the New Loyalty Currency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retention strategy around behavior, not balance.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Iqra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2026-09-19T19:16:31Z</dcterms:created>
  <dcterms:modified xsi:type="dcterms:W3CDTF">2026-09-19T19:16:31Z</dcterms:modified>
</cp:coreProperties>
</file>